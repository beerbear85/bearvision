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9ca92e2d744fb" /><Relationship Type="http://schemas.openxmlformats.org/officeDocument/2006/relationships/extended-properties" Target="/docProps/app.xml" Id="R77018febe30b49e9" /><Relationship Type="http://schemas.openxmlformats.org/officeDocument/2006/relationships/officeDocument" Target="/ppt/presentation.xml" Id="R98d71d637f58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8a9dc7905b4f72"/>
  </p:sldMasterIdLst>
  <p:notesMasterIdLst>
    <p:notesMasterId xmlns:r="http://schemas.openxmlformats.org/officeDocument/2006/relationships" r:id="Rc90fabec786f4480"/>
  </p:notesMasterIdLst>
  <p:sldIdLst>
    <p:sldId xmlns:r="http://schemas.openxmlformats.org/officeDocument/2006/relationships" id="256" r:id="Rb75133aab8a34321"/>
    <p:sldId xmlns:r="http://schemas.openxmlformats.org/officeDocument/2006/relationships" id="257" r:id="R43bfd36e0fff4653"/>
    <p:sldId xmlns:r="http://schemas.openxmlformats.org/officeDocument/2006/relationships" id="258" r:id="R42e9e43929b04215"/>
    <p:sldId xmlns:r="http://schemas.openxmlformats.org/officeDocument/2006/relationships" id="259" r:id="R8541bc4c939c440b"/>
    <p:sldId xmlns:r="http://schemas.openxmlformats.org/officeDocument/2006/relationships" id="260" r:id="R3af21fe9dc5143d0"/>
    <p:sldId xmlns:r="http://schemas.openxmlformats.org/officeDocument/2006/relationships" id="261" r:id="Rb8dfa76b476444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6a8df896f04ee5" /><Relationship Type="http://schemas.openxmlformats.org/officeDocument/2006/relationships/slideMaster" Target="/ppt/slideMasters/slideMaster1.xml" Id="Rde8a9dc7905b4f72" /><Relationship Type="http://schemas.openxmlformats.org/officeDocument/2006/relationships/notesMaster" Target="/ppt/notesMasters/notesMaster1.xml" Id="Rc90fabec786f4480" /><Relationship Type="http://schemas.openxmlformats.org/officeDocument/2006/relationships/presProps" Target="/ppt/presProps.xml" Id="R3e57d7db1e5a430b" /><Relationship Type="http://schemas.openxmlformats.org/officeDocument/2006/relationships/tableStyles" Target="/ppt/tableStyles.xml" Id="R038a8e003285417c" /><Relationship Type="http://schemas.openxmlformats.org/officeDocument/2006/relationships/slide" Target="/ppt/slides/slide1.xml" Id="Rb75133aab8a34321" /><Relationship Type="http://schemas.openxmlformats.org/officeDocument/2006/relationships/slide" Target="/ppt/slides/slide2.xml" Id="R43bfd36e0fff4653" /><Relationship Type="http://schemas.openxmlformats.org/officeDocument/2006/relationships/slide" Target="/ppt/slides/slide3.xml" Id="R42e9e43929b04215" /><Relationship Type="http://schemas.openxmlformats.org/officeDocument/2006/relationships/slide" Target="/ppt/slides/slide4.xml" Id="R8541bc4c939c440b" /><Relationship Type="http://schemas.openxmlformats.org/officeDocument/2006/relationships/slide" Target="/ppt/slides/slide5.xml" Id="R3af21fe9dc5143d0" /><Relationship Type="http://schemas.openxmlformats.org/officeDocument/2006/relationships/slide" Target="/ppt/slides/slide6.xml" Id="Rb8dfa76b476444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4af616793843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422baba2e44178" /><Relationship Type="http://schemas.openxmlformats.org/officeDocument/2006/relationships/notesMaster" Target="/ppt/notesMasters/notesMaster1.xml" Id="R7bd8ffaf42cf48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6c45f8c65149e7" /><Relationship Type="http://schemas.openxmlformats.org/officeDocument/2006/relationships/notesMaster" Target="/ppt/notesMasters/notesMaster1.xml" Id="R149ef00f165b40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2269e0531d46f3" /><Relationship Type="http://schemas.openxmlformats.org/officeDocument/2006/relationships/notesMaster" Target="/ppt/notesMasters/notesMaster1.xml" Id="Rbf7c2946953449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20a9fdd1ad4fe6" /><Relationship Type="http://schemas.openxmlformats.org/officeDocument/2006/relationships/notesMaster" Target="/ppt/notesMasters/notesMaster1.xml" Id="R2b2ee40e876649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cd6838c36346db" /><Relationship Type="http://schemas.openxmlformats.org/officeDocument/2006/relationships/notesMaster" Target="/ppt/notesMasters/notesMaster1.xml" Id="Ra46a1fbecdf34d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9ccc5e960d4924" /><Relationship Type="http://schemas.openxmlformats.org/officeDocument/2006/relationships/notesMaster" Target="/ppt/notesMasters/notesMaster1.xml" Id="R24f4e1eb118b4e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Static mockup data. The design is based on apps/edge-control and edge-control-operator-monitoring-plan.md.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review, round 1. The three screenshots come from one throwaway prototype with variant parameters.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performed with the Bear Vision Edge Operator persona. Findings apply to the shown static screen.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review, round 2. Iteration 2 is the recommended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mockup. Prototype-switcheren og reviewnoterne er skjult i dette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static mockups. Persona review is a design hypothesis and does not replace user interviews or interaction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69781d3f946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baaf7245f240fd" /><Relationship Type="http://schemas.openxmlformats.org/officeDocument/2006/relationships/slideLayout" Target="/ppt/slideLayouts/slideLayout1.xml" Id="Rc23425b0187440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425b0187440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271e42a634f67" /><Relationship Type="http://schemas.openxmlformats.org/officeDocument/2006/relationships/image" Target="/ppt/media/image.png" Id="R426693786357478c" /><Relationship Type="http://schemas.openxmlformats.org/officeDocument/2006/relationships/notesSlide" Target="/ppt/notesSlides/notesSlide1.xml" Id="R1a47e27e13d74b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5f9412f3543ba" /><Relationship Type="http://schemas.openxmlformats.org/officeDocument/2006/relationships/image" Target="/ppt/media/image2.png" Id="R16fc3e2022294a67" /><Relationship Type="http://schemas.openxmlformats.org/officeDocument/2006/relationships/image" Target="/ppt/media/image3.png" Id="R0049c44945064f3d" /><Relationship Type="http://schemas.openxmlformats.org/officeDocument/2006/relationships/image" Target="/ppt/media/image4.png" Id="R9947872362474932" /><Relationship Type="http://schemas.openxmlformats.org/officeDocument/2006/relationships/notesSlide" Target="/ppt/notesSlides/notesSlide2.xml" Id="R2040736f135b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ae38d18d649e8" /><Relationship Type="http://schemas.openxmlformats.org/officeDocument/2006/relationships/image" Target="/ppt/media/image5.png" Id="R7b847e195ced4b36" /><Relationship Type="http://schemas.openxmlformats.org/officeDocument/2006/relationships/notesSlide" Target="/ppt/notesSlides/notesSlide3.xml" Id="R775dd0e26af945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3ad5590c04105" /><Relationship Type="http://schemas.openxmlformats.org/officeDocument/2006/relationships/image" Target="/ppt/media/image6.png" Id="R6e260ae745464ea3" /><Relationship Type="http://schemas.openxmlformats.org/officeDocument/2006/relationships/image" Target="/ppt/media/image7.png" Id="R31e182d56f8b4eeb" /><Relationship Type="http://schemas.openxmlformats.org/officeDocument/2006/relationships/notesSlide" Target="/ppt/notesSlides/notesSlide4.xml" Id="Red3e72757b3146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e31c850df4ab5" /><Relationship Type="http://schemas.openxmlformats.org/officeDocument/2006/relationships/image" Target="/ppt/media/image8.png" Id="R229d580687144412" /><Relationship Type="http://schemas.openxmlformats.org/officeDocument/2006/relationships/notesSlide" Target="/ppt/notesSlides/notesSlide5.xml" Id="R9b1661105b994c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34d3389bd4505" /><Relationship Type="http://schemas.openxmlformats.org/officeDocument/2006/relationships/image" Target="/ppt/media/image9.png" Id="R5d5e5d56d5bf4526" /><Relationship Type="http://schemas.openxmlformats.org/officeDocument/2006/relationships/image" Target="/ppt/media/image10.png" Id="R33af2b6ddc2c43aa" /><Relationship Type="http://schemas.openxmlformats.org/officeDocument/2006/relationships/notesSlide" Target="/ppt/notesSlides/notesSlide6.xml" Id="R7833f3ea318942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EC5F6-1660-4EE8-8BD0-FE112350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Edge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93238-CEAB-4C15-8AAB-0D281C0D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9E7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9E7E1"/>
                </a:solidFill>
                <a:latin typeface="Arial"/>
                <a:ea typeface="Arial"/>
                <a:cs typeface="Arial"/>
              </a:rPr>
              <a:t>A calmer operator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6E63A-7D70-4F22-8117-C6620D1F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33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C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CC3"/>
                </a:solidFill>
                <a:latin typeface="Arial"/>
                <a:ea typeface="Arial"/>
                <a:cs typeface="Arial"/>
              </a:rPr>
              <a:t>Readiness details and logs move to separate screens. Readiness status and its start action remain on the overview.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F1A9C-4FA7-49E4-885C-F6F003E3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FB0A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B0A1"/>
                </a:solidFill>
                <a:latin typeface="Arial"/>
                <a:ea typeface="Arial"/>
                <a:cs typeface="Arial"/>
              </a:rPr>
              <a:t>Design prototype · September 10, 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693786357478c"/>
          <a:stretch xmlns:a="http://schemas.openxmlformats.org/drawingml/2006/main"/>
        </p:blipFill>
        <p:spPr>
          <a:xfrm xmlns:a="http://schemas.openxmlformats.org/drawingml/2006/main">
            <a:off x="5957792" y="1123950"/>
            <a:ext cx="5419916" cy="3571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77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064A3-A28A-4F96-BE67-062D148B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Three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30181-9ACF-46EE-9BF9-E5634F93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The same capabilities with different orientation and information priority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c3e2022294a67"/>
          <a:stretch xmlns:a="http://schemas.openxmlformats.org/drawingml/2006/main"/>
        </p:blipFill>
        <p:spPr>
          <a:xfrm xmlns:a="http://schemas.openxmlformats.org/drawingml/2006/main">
            <a:off x="777251" y="1257300"/>
            <a:ext cx="2903198" cy="2143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BDB9F-81DD-4265-9E3F-ADC4114C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Command center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056DE-0FF6-489F-A1C0-BC658FE1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Persistent navigation with clear destinations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9c44945064f3d"/>
          <a:stretch xmlns:a="http://schemas.openxmlformats.org/drawingml/2006/main"/>
        </p:blipFill>
        <p:spPr>
          <a:xfrm xmlns:a="http://schemas.openxmlformats.org/drawingml/2006/main">
            <a:off x="4717046" y="1257300"/>
            <a:ext cx="2757909" cy="2143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39A10-F5F4-4C52-A19A-AD627A09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Guided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08A74-7C43-478C-A9F6-CA2D3E58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Setup first, preview as the main workspace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7872362474932"/>
          <a:stretch xmlns:a="http://schemas.openxmlformats.org/drawingml/2006/main"/>
        </p:blipFill>
        <p:spPr>
          <a:xfrm xmlns:a="http://schemas.openxmlformats.org/drawingml/2006/main">
            <a:off x="8565460" y="1257300"/>
            <a:ext cx="2795380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6552C-2EB1-4D34-8CA2-BF9BBDCD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Focus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1D27C-2F33-4277-A35B-0C059DD2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Maximum preview space with compact 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E6618-3928-4076-8655-A5B391A2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A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50"/>
                </a:solidFill>
                <a:latin typeface="Arial"/>
                <a:ea typeface="Arial"/>
                <a:cs typeface="Arial"/>
              </a:rPr>
              <a:t>Selected direction: Command center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E3F64-DEBB-45BF-8CBC-43CA3466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Persistent navigation makes it easiest to return after an interruption. Full labels require no learned abbreviations.</a:t>
            </a:r>
          </a:p>
        </p:txBody>
      </p:sp>
    </p:spTree>
    <p:extLst>
      <p:ext uri="{BB962C8B-B14F-4D97-AF65-F5344CB8AC3E}">
        <p14:creationId xmlns:p14="http://schemas.microsoft.com/office/powerpoint/2010/main" val="499079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A01A3-6D4E-4280-9D09-23419E8E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Operator review · round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9B974-45AD-4CD6-9EC5-D04F76C5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The command center wins, but the base version gives conflicting signals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47e195ced4b36"/>
          <a:stretch xmlns:a="http://schemas.openxmlformats.org/drawingml/2006/main"/>
        </p:blipFill>
        <p:spPr>
          <a:xfrm xmlns:a="http://schemas.openxmlformats.org/drawingml/2006/main">
            <a:off x="1019856" y="1181100"/>
            <a:ext cx="5561238" cy="41052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2D234-6F9B-467B-A6C4-E5F9DE51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239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41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74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A43C3-C53C-4655-9963-749AC929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573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Too many pipeline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922D5-0256-4A77-AD09-8F75CAE3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97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Packaging and history compete with the current operation.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8FFE6-3A84-4241-942F-E13E30E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955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41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74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897DB-5326-4469-BFA3-2FF514A1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288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Readiness is too passive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06EC3-6053-4039-9384-43133455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The status appears, but the route to details is unclear.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2CD65-4D10-4D5B-B1A2-BE938EC9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41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74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227AC-745F-4851-8323-7A4EA139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004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The CTA is misleading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D06A8-BF4B-4487-993C-258CABB5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528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The screen requires warning review, but the button says “Start hardware”.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80F42-645D-42E0-BF19-786A9F2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A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A50"/>
                </a:solidFill>
                <a:latin typeface="Arial"/>
                <a:ea typeface="Arial"/>
                <a:cs typeface="Arial"/>
              </a:rPr>
              <a:t>The operator's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C70FA-5EC7-47E8-9715-B32074D9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What should I do now?</a:t>
            </a:r>
          </a:p>
        </p:txBody>
      </p:sp>
    </p:spTree>
    <p:extLst>
      <p:ext uri="{BB962C8B-B14F-4D97-AF65-F5344CB8AC3E}">
        <p14:creationId xmlns:p14="http://schemas.microsoft.com/office/powerpoint/2010/main" val="1146337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D6DAC-AB8A-47CD-B488-74A2F6E4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Operator review · round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3C545-8675-4A8F-ADA0-9C105D25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Iteration 2 makes the next action and check age clear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60ae745464ea3"/>
          <a:stretch xmlns:a="http://schemas.openxmlformats.org/drawingml/2006/main"/>
        </p:blipFill>
        <p:spPr>
          <a:xfrm xmlns:a="http://schemas.openxmlformats.org/drawingml/2006/main">
            <a:off x="793933" y="1200150"/>
            <a:ext cx="4822458" cy="33623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182d56f8b4eeb"/>
          <a:stretch xmlns:a="http://schemas.openxmlformats.org/drawingml/2006/main"/>
        </p:blipFill>
        <p:spPr>
          <a:xfrm xmlns:a="http://schemas.openxmlformats.org/drawingml/2006/main">
            <a:off x="6435864" y="1200150"/>
            <a:ext cx="5101947" cy="33623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96CC4-603B-42EC-80F7-6357217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Iteration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F5D24-7AE8-4F7C-8E3F-F052FB70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Less pipeline noise and a visible link to checks. The start button still contradicts the warning.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99758-AD04-4D4E-A948-693ED595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62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A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A50"/>
                </a:solidFill>
                <a:latin typeface="Arial"/>
                <a:ea typeface="Arial"/>
                <a:cs typeface="Arial"/>
              </a:rPr>
              <a:t>Iteration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5DCB6-2AF2-46A5-BA1F-44B84CE2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958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“Last checked” supports returning after an interruption. The CTA opens the specific warning before start.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A38ED-8DB7-4F77-9803-F44158E4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6000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A5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A50"/>
                </a:solidFill>
                <a:latin typeface="Arial"/>
                <a:ea typeface="Arial"/>
                <a:cs typeface="Arial"/>
              </a:rPr>
              <a:t>Result: one status, one next action</a:t>
            </a:r>
          </a:p>
        </p:txBody>
      </p:sp>
    </p:spTree>
    <p:extLst>
      <p:ext uri="{BB962C8B-B14F-4D97-AF65-F5344CB8AC3E}">
        <p14:creationId xmlns:p14="http://schemas.microsoft.com/office/powerpoint/2010/main" val="178209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B9A26-9706-4982-8CAE-50B00BBC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Final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E9B2E-742F-438B-BBF8-A382A5D9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1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Status, readiness summary and the check action remain on the overview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d580687144412"/>
          <a:stretch xmlns:a="http://schemas.openxmlformats.org/drawingml/2006/main"/>
        </p:blipFill>
        <p:spPr>
          <a:xfrm xmlns:a="http://schemas.openxmlformats.org/drawingml/2006/main">
            <a:off x="1326474" y="523875"/>
            <a:ext cx="9539052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04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B75AD-8939-45BE-8035-4849C918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Separate detail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745A5-49A7-4F01-B515-4D053D71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Readiness guides the operator. Logs support diagnosis.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e5d56d5bf4526"/>
          <a:stretch xmlns:a="http://schemas.openxmlformats.org/drawingml/2006/main"/>
        </p:blipFill>
        <p:spPr>
          <a:xfrm xmlns:a="http://schemas.openxmlformats.org/drawingml/2006/main">
            <a:off x="648801" y="1162050"/>
            <a:ext cx="5112722" cy="33623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f2b6ddc2c43aa"/>
          <a:stretch xmlns:a="http://schemas.openxmlformats.org/drawingml/2006/main"/>
        </p:blipFill>
        <p:spPr>
          <a:xfrm xmlns:a="http://schemas.openxmlformats.org/drawingml/2006/main">
            <a:off x="6296977" y="1162050"/>
            <a:ext cx="5379720" cy="33623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8E0A1-246E-4478-B1DD-40B44926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6A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A50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97A9E-7AAF-4DF7-821F-BF9CED48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Groups passed checks, warnings and blocking failures. Each issue explains its impact and the next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DC7B7-DDE0-45B1-8103-AF72ED19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Detailed 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DA595-C1EF-4E7D-A7DE-E8F4169D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143500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F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67"/>
                </a:solidFill>
                <a:latin typeface="Arial"/>
                <a:ea typeface="Arial"/>
                <a:cs typeface="Arial"/>
              </a:rPr>
              <a:t>Filters and support evidence stay away from daily operation. The operator does not have to diagnose the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2901D-2009-45DA-A297-3F74F006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2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Recommendation: implement the information architecture, then validate it with a cable park operator.</a:t>
            </a:r>
          </a:p>
        </p:txBody>
      </p:sp>
    </p:spTree>
    <p:extLst>
      <p:ext uri="{BB962C8B-B14F-4D97-AF65-F5344CB8AC3E}">
        <p14:creationId xmlns:p14="http://schemas.microsoft.com/office/powerpoint/2010/main" val="1563000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2026-09-10T05:41:20.6830000Z</dcterms:created>
  <dcterms:modified xsi:type="dcterms:W3CDTF">2026-09-10T05:41:20.6830000Z</dcterms:modified>
</coreProperties>
</file>